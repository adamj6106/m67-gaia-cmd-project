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5"/>
  </p:notesMasterIdLst>
  <p:sldIdLst>
    <p:sldId id="256" r:id="rId5"/>
    <p:sldId id="257" r:id="rId6"/>
    <p:sldId id="259" r:id="rId7"/>
    <p:sldId id="258"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6"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ECE790-9985-45EE-96D2-C01D68668EB7}" type="datetimeFigureOut">
              <a:rPr lang="en-US" smtClean="0"/>
              <a:t>5/26/2026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72AF3-A513-4953-8969-FC677E2CC5E2}" type="slidenum">
              <a:rPr lang="en-US" smtClean="0"/>
              <a:t>‹#›</a:t>
            </a:fld>
            <a:endParaRPr lang="en-US"/>
          </a:p>
        </p:txBody>
      </p:sp>
    </p:spTree>
    <p:extLst>
      <p:ext uri="{BB962C8B-B14F-4D97-AF65-F5344CB8AC3E}">
        <p14:creationId xmlns:p14="http://schemas.microsoft.com/office/powerpoint/2010/main" val="478964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772AF3-A513-4953-8969-FC677E2CC5E2}" type="slidenum">
              <a:rPr lang="en-US" smtClean="0"/>
              <a:t>2</a:t>
            </a:fld>
            <a:endParaRPr lang="en-US"/>
          </a:p>
        </p:txBody>
      </p:sp>
    </p:spTree>
    <p:extLst>
      <p:ext uri="{BB962C8B-B14F-4D97-AF65-F5344CB8AC3E}">
        <p14:creationId xmlns:p14="http://schemas.microsoft.com/office/powerpoint/2010/main" val="1453462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5/26/2026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356489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5/26/2026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703190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3A0E8A-747D-9606-3CC9-71F6F5259E91}"/>
              </a:ext>
            </a:extLst>
          </p:cNvPr>
          <p:cNvSpPr>
            <a:spLocks noGrp="1"/>
          </p:cNvSpPr>
          <p:nvPr>
            <p:ph type="ctrTitle"/>
          </p:nvPr>
        </p:nvSpPr>
        <p:spPr>
          <a:xfrm>
            <a:off x="521208" y="978408"/>
            <a:ext cx="3397649" cy="2935866"/>
          </a:xfrm>
        </p:spPr>
        <p:txBody>
          <a:bodyPr anchor="t">
            <a:noAutofit/>
          </a:bodyPr>
          <a:lstStyle/>
          <a:p>
            <a:pPr>
              <a:lnSpc>
                <a:spcPct val="90000"/>
              </a:lnSpc>
            </a:pPr>
            <a:r>
              <a:rPr lang="en-US" sz="3500" dirty="0"/>
              <a:t>Estimating the age of M67 using Gaia data and a Color-Magnitude Diagram</a:t>
            </a:r>
          </a:p>
        </p:txBody>
      </p:sp>
      <p:sp>
        <p:nvSpPr>
          <p:cNvPr id="3" name="Subtitle 2">
            <a:extLst>
              <a:ext uri="{FF2B5EF4-FFF2-40B4-BE49-F238E27FC236}">
                <a16:creationId xmlns:a16="http://schemas.microsoft.com/office/drawing/2014/main" id="{966C6B1E-FD66-FA90-1B51-1FDD67F807F0}"/>
              </a:ext>
            </a:extLst>
          </p:cNvPr>
          <p:cNvSpPr>
            <a:spLocks noGrp="1"/>
          </p:cNvSpPr>
          <p:nvPr>
            <p:ph type="subTitle" idx="1"/>
          </p:nvPr>
        </p:nvSpPr>
        <p:spPr>
          <a:xfrm>
            <a:off x="521208" y="4354633"/>
            <a:ext cx="3397649" cy="1706533"/>
          </a:xfrm>
        </p:spPr>
        <p:txBody>
          <a:bodyPr anchor="t">
            <a:normAutofit/>
          </a:bodyPr>
          <a:lstStyle/>
          <a:p>
            <a:r>
              <a:rPr lang="en-US"/>
              <a:t>Adam Johnson</a:t>
            </a:r>
          </a:p>
          <a:p>
            <a:r>
              <a:rPr lang="en-US"/>
              <a:t>Independent Research Project</a:t>
            </a:r>
          </a:p>
        </p:txBody>
      </p:sp>
      <p:sp>
        <p:nvSpPr>
          <p:cNvPr id="27" name="Freeform: Shape 26">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7A01D71C-F852-4472-5CEC-8DA1E65B45A9}"/>
              </a:ext>
            </a:extLst>
          </p:cNvPr>
          <p:cNvPicPr>
            <a:picLocks noChangeAspect="1"/>
          </p:cNvPicPr>
          <p:nvPr/>
        </p:nvPicPr>
        <p:blipFill>
          <a:blip r:embed="rId2">
            <a:extLst>
              <a:ext uri="{28A0092B-C50C-407E-A947-70E740481C1C}">
                <a14:useLocalDpi xmlns:a14="http://schemas.microsoft.com/office/drawing/2010/main" val="0"/>
              </a:ext>
            </a:extLst>
          </a:blip>
          <a:srcRect t="15362" r="1" b="548"/>
          <a:stretch>
            <a:fillRect/>
          </a:stretch>
        </p:blipFill>
        <p:spPr>
          <a:xfrm>
            <a:off x="4119154" y="965741"/>
            <a:ext cx="7551931" cy="4203197"/>
          </a:xfrm>
          <a:prstGeom prst="rect">
            <a:avLst/>
          </a:prstGeom>
        </p:spPr>
      </p:pic>
      <p:sp>
        <p:nvSpPr>
          <p:cNvPr id="7" name="TextBox 6">
            <a:extLst>
              <a:ext uri="{FF2B5EF4-FFF2-40B4-BE49-F238E27FC236}">
                <a16:creationId xmlns:a16="http://schemas.microsoft.com/office/drawing/2014/main" id="{D66EB313-1515-A121-E25A-615844A2B3F6}"/>
              </a:ext>
            </a:extLst>
          </p:cNvPr>
          <p:cNvSpPr txBox="1"/>
          <p:nvPr/>
        </p:nvSpPr>
        <p:spPr>
          <a:xfrm>
            <a:off x="5702182" y="5477310"/>
            <a:ext cx="4393311" cy="738664"/>
          </a:xfrm>
          <a:prstGeom prst="rect">
            <a:avLst/>
          </a:prstGeom>
          <a:noFill/>
        </p:spPr>
        <p:txBody>
          <a:bodyPr wrap="square" rtlCol="0">
            <a:spAutoFit/>
          </a:bodyPr>
          <a:lstStyle/>
          <a:p>
            <a:r>
              <a:rPr lang="en-US" sz="1200" dirty="0">
                <a:effectLst/>
              </a:rPr>
              <a:t>Carboni, Noel, and Greg Parker. </a:t>
            </a:r>
            <a:r>
              <a:rPr lang="en-US" sz="1200" i="1" dirty="0">
                <a:effectLst/>
              </a:rPr>
              <a:t>APOD: 2007 august 9 - Star Cluster Messier 67</a:t>
            </a:r>
            <a:r>
              <a:rPr lang="en-US" sz="1200" dirty="0">
                <a:effectLst/>
              </a:rPr>
              <a:t>. 9 Aug. 2007. </a:t>
            </a:r>
          </a:p>
          <a:p>
            <a:endParaRPr lang="en-US" dirty="0"/>
          </a:p>
        </p:txBody>
      </p:sp>
    </p:spTree>
    <p:extLst>
      <p:ext uri="{BB962C8B-B14F-4D97-AF65-F5344CB8AC3E}">
        <p14:creationId xmlns:p14="http://schemas.microsoft.com/office/powerpoint/2010/main" val="135242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FD11AA-D9C8-8634-7876-E77A2E075971}"/>
              </a:ext>
            </a:extLst>
          </p:cNvPr>
          <p:cNvSpPr>
            <a:spLocks noGrp="1"/>
          </p:cNvSpPr>
          <p:nvPr>
            <p:ph type="ctrTitle"/>
          </p:nvPr>
        </p:nvSpPr>
        <p:spPr>
          <a:xfrm>
            <a:off x="517868" y="1000768"/>
            <a:ext cx="6367563" cy="1504689"/>
          </a:xfrm>
        </p:spPr>
        <p:txBody>
          <a:bodyPr anchor="t">
            <a:normAutofit/>
          </a:bodyPr>
          <a:lstStyle/>
          <a:p>
            <a:pPr>
              <a:lnSpc>
                <a:spcPct val="90000"/>
              </a:lnSpc>
            </a:pPr>
            <a:r>
              <a:rPr lang="en-US" sz="2300" dirty="0"/>
              <a:t>Initial Research Question: Can the age of the star cluster M67 be estimated using a color-magnitude diagram (CMD) by identifying the main sequence turnoff?</a:t>
            </a:r>
          </a:p>
        </p:txBody>
      </p:sp>
      <mc:AlternateContent xmlns:mc="http://schemas.openxmlformats.org/markup-compatibility/2006">
        <mc:Choice xmlns:a14="http://schemas.microsoft.com/office/drawing/2010/main" Requires="a14">
          <p:sp>
            <p:nvSpPr>
              <p:cNvPr id="5" name="Subtitle 4">
                <a:extLst>
                  <a:ext uri="{FF2B5EF4-FFF2-40B4-BE49-F238E27FC236}">
                    <a16:creationId xmlns:a16="http://schemas.microsoft.com/office/drawing/2014/main" id="{67F0C076-76F6-1C7B-3E39-2FA671E302E6}"/>
                  </a:ext>
                </a:extLst>
              </p:cNvPr>
              <p:cNvSpPr>
                <a:spLocks noGrp="1"/>
              </p:cNvSpPr>
              <p:nvPr>
                <p:ph type="subTitle" idx="1"/>
              </p:nvPr>
            </p:nvSpPr>
            <p:spPr>
              <a:xfrm>
                <a:off x="517868" y="2395289"/>
                <a:ext cx="5910364" cy="2995558"/>
              </a:xfrm>
            </p:spPr>
            <p:txBody>
              <a:bodyPr anchor="t">
                <a:normAutofit fontScale="92500" lnSpcReduction="20000"/>
              </a:bodyPr>
              <a:lstStyle/>
              <a:p>
                <a:pPr>
                  <a:lnSpc>
                    <a:spcPct val="100000"/>
                  </a:lnSpc>
                </a:pPr>
                <a:r>
                  <a:rPr lang="en-US" sz="1700" dirty="0"/>
                  <a:t>What is a CMD?</a:t>
                </a:r>
              </a:p>
              <a:p>
                <a:pPr>
                  <a:lnSpc>
                    <a:spcPct val="100000"/>
                  </a:lnSpc>
                </a:pPr>
                <a:r>
                  <a:rPr lang="en-US" sz="1700" i="0" dirty="0"/>
                  <a:t>-A CMD is a diagram that represents stars by comparing their brightness vs. color</a:t>
                </a:r>
              </a:p>
              <a:p>
                <a:pPr>
                  <a:lnSpc>
                    <a:spcPct val="100000"/>
                  </a:lnSpc>
                </a:pPr>
                <a:r>
                  <a:rPr lang="en-US" sz="1700" i="0" dirty="0"/>
                  <a:t>-Absolute magnitude </a:t>
                </a:r>
                <a:r>
                  <a:rPr lang="en-US" sz="1700" dirty="0"/>
                  <a:t>(M)</a:t>
                </a:r>
                <a:r>
                  <a:rPr lang="en-US" sz="1700" i="0" dirty="0"/>
                  <a:t> is often used to represent how bright a star is at 10 parsecs, while the stars color </a:t>
                </a:r>
                <a14:m>
                  <m:oMath xmlns:m="http://schemas.openxmlformats.org/officeDocument/2006/math">
                    <m:sSub>
                      <m:sSubPr>
                        <m:ctrlPr>
                          <a:rPr lang="en-US" sz="1700" i="1">
                            <a:latin typeface="Cambria Math" panose="02040503050406030204" pitchFamily="18" charset="0"/>
                          </a:rPr>
                        </m:ctrlPr>
                      </m:sSubPr>
                      <m:e>
                        <m:d>
                          <m:dPr>
                            <m:ctrlPr>
                              <a:rPr lang="en-US" sz="1700" i="1">
                                <a:latin typeface="Cambria Math" panose="02040503050406030204" pitchFamily="18" charset="0"/>
                              </a:rPr>
                            </m:ctrlPr>
                          </m:dPr>
                          <m:e>
                            <m:r>
                              <a:rPr lang="en-US" sz="1700" i="0">
                                <a:latin typeface="Cambria Math" panose="02040503050406030204" pitchFamily="18" charset="0"/>
                              </a:rPr>
                              <m:t>𝐵𝑝</m:t>
                            </m:r>
                            <m:r>
                              <a:rPr lang="en-US" sz="1700" i="0">
                                <a:latin typeface="Cambria Math" panose="02040503050406030204" pitchFamily="18" charset="0"/>
                              </a:rPr>
                              <m:t>−</m:t>
                            </m:r>
                            <m:r>
                              <a:rPr lang="en-US" sz="1700">
                                <a:latin typeface="Cambria Math" panose="02040503050406030204" pitchFamily="18" charset="0"/>
                              </a:rPr>
                              <m:t>𝑅𝑝</m:t>
                            </m:r>
                          </m:e>
                        </m:d>
                      </m:e>
                      <m:sub>
                        <m:r>
                          <a:rPr lang="en-US" sz="1700" i="0">
                            <a:latin typeface="Cambria Math" panose="02040503050406030204" pitchFamily="18" charset="0"/>
                          </a:rPr>
                          <m:t>𝛺</m:t>
                        </m:r>
                      </m:sub>
                    </m:sSub>
                    <m:r>
                      <a:rPr lang="en-US" sz="1700">
                        <a:latin typeface="Cambria Math" panose="02040503050406030204" pitchFamily="18" charset="0"/>
                      </a:rPr>
                      <m:t> </m:t>
                    </m:r>
                  </m:oMath>
                </a14:m>
                <a:r>
                  <a:rPr lang="en-US" sz="1700" i="0" dirty="0"/>
                  <a:t>represents how hot the star is.</a:t>
                </a:r>
                <a:r>
                  <a:rPr lang="en-US" sz="1700" dirty="0"/>
                  <a:t> In this project, I used Gaia G magnitude </a:t>
                </a:r>
                <a:r>
                  <a:rPr lang="en-US" sz="1700" i="0" dirty="0"/>
                  <a:t>(</a:t>
                </a:r>
                <a14:m>
                  <m:oMath xmlns:m="http://schemas.openxmlformats.org/officeDocument/2006/math">
                    <m:sSub>
                      <m:sSubPr>
                        <m:ctrlPr>
                          <a:rPr lang="en-US" sz="1700" dirty="0">
                            <a:latin typeface="Cambria Math" panose="02040503050406030204" pitchFamily="18" charset="0"/>
                          </a:rPr>
                        </m:ctrlPr>
                      </m:sSubPr>
                      <m:e>
                        <m:r>
                          <a:rPr lang="en-US" sz="1700" i="0" dirty="0">
                            <a:latin typeface="Cambria Math" panose="02040503050406030204" pitchFamily="18" charset="0"/>
                          </a:rPr>
                          <m:t>𝑀</m:t>
                        </m:r>
                      </m:e>
                      <m:sub>
                        <m:r>
                          <a:rPr lang="en-US" sz="1700" i="0" dirty="0">
                            <a:latin typeface="Cambria Math" panose="02040503050406030204" pitchFamily="18" charset="0"/>
                          </a:rPr>
                          <m:t>𝐺</m:t>
                        </m:r>
                      </m:sub>
                    </m:sSub>
                  </m:oMath>
                </a14:m>
                <a:r>
                  <a:rPr lang="en-US" sz="1700" i="0" dirty="0"/>
                  <a:t>)</a:t>
                </a:r>
                <a:r>
                  <a:rPr lang="en-US" sz="1700" dirty="0"/>
                  <a:t> as the brightness measurement.</a:t>
                </a:r>
                <a:endParaRPr lang="en-US" sz="1700" i="0" dirty="0"/>
              </a:p>
              <a:p>
                <a:pPr>
                  <a:lnSpc>
                    <a:spcPct val="100000"/>
                  </a:lnSpc>
                </a:pPr>
                <a:r>
                  <a:rPr lang="en-US" sz="1700" dirty="0"/>
                  <a:t>-</a:t>
                </a:r>
                <a:r>
                  <a:rPr lang="en-US" sz="1700" i="0" dirty="0"/>
                  <a:t>The Y-Axis (</a:t>
                </a:r>
                <a14:m>
                  <m:oMath xmlns:m="http://schemas.openxmlformats.org/officeDocument/2006/math">
                    <m:sSub>
                      <m:sSubPr>
                        <m:ctrlPr>
                          <a:rPr lang="en-US" sz="1700" i="1" dirty="0">
                            <a:latin typeface="Cambria Math" panose="02040503050406030204" pitchFamily="18" charset="0"/>
                          </a:rPr>
                        </m:ctrlPr>
                      </m:sSubPr>
                      <m:e>
                        <m:r>
                          <a:rPr lang="en-US" sz="1700" i="0" dirty="0">
                            <a:latin typeface="Cambria Math" panose="02040503050406030204" pitchFamily="18" charset="0"/>
                          </a:rPr>
                          <m:t>𝑀</m:t>
                        </m:r>
                      </m:e>
                      <m:sub>
                        <m:r>
                          <a:rPr lang="en-US" sz="1700" i="0" dirty="0">
                            <a:latin typeface="Cambria Math" panose="02040503050406030204" pitchFamily="18" charset="0"/>
                          </a:rPr>
                          <m:t>𝐺</m:t>
                        </m:r>
                      </m:sub>
                    </m:sSub>
                  </m:oMath>
                </a14:m>
                <a:r>
                  <a:rPr lang="en-US" sz="1700" i="0" dirty="0"/>
                  <a:t>) has dim stars at the bottom and bright stars at the top</a:t>
                </a:r>
              </a:p>
              <a:p>
                <a:pPr>
                  <a:lnSpc>
                    <a:spcPct val="100000"/>
                  </a:lnSpc>
                </a:pPr>
                <a:r>
                  <a:rPr lang="en-US" sz="1700" i="0" dirty="0"/>
                  <a:t>-The X-Axis </a:t>
                </a:r>
                <a14:m>
                  <m:oMath xmlns:m="http://schemas.openxmlformats.org/officeDocument/2006/math">
                    <m:sSub>
                      <m:sSubPr>
                        <m:ctrlPr>
                          <a:rPr lang="en-US" sz="1700" i="1">
                            <a:latin typeface="Cambria Math" panose="02040503050406030204" pitchFamily="18" charset="0"/>
                          </a:rPr>
                        </m:ctrlPr>
                      </m:sSubPr>
                      <m:e>
                        <m:d>
                          <m:dPr>
                            <m:ctrlPr>
                              <a:rPr lang="en-US" sz="1700" i="1">
                                <a:latin typeface="Cambria Math" panose="02040503050406030204" pitchFamily="18" charset="0"/>
                              </a:rPr>
                            </m:ctrlPr>
                          </m:dPr>
                          <m:e>
                            <m:r>
                              <a:rPr lang="en-US" sz="1700" i="0">
                                <a:latin typeface="Cambria Math" panose="02040503050406030204" pitchFamily="18" charset="0"/>
                              </a:rPr>
                              <m:t>𝐵𝑝</m:t>
                            </m:r>
                            <m:r>
                              <a:rPr lang="en-US" sz="1700" i="0">
                                <a:latin typeface="Cambria Math" panose="02040503050406030204" pitchFamily="18" charset="0"/>
                              </a:rPr>
                              <m:t>−</m:t>
                            </m:r>
                            <m:r>
                              <a:rPr lang="en-US" sz="1700" b="0" i="1" smtClean="0">
                                <a:latin typeface="Cambria Math" panose="02040503050406030204" pitchFamily="18" charset="0"/>
                              </a:rPr>
                              <m:t>𝑅𝑝</m:t>
                            </m:r>
                          </m:e>
                        </m:d>
                      </m:e>
                      <m:sub>
                        <m:r>
                          <a:rPr lang="en-US" sz="1700" i="0">
                            <a:latin typeface="Cambria Math" panose="02040503050406030204" pitchFamily="18" charset="0"/>
                          </a:rPr>
                          <m:t>𝛺</m:t>
                        </m:r>
                      </m:sub>
                    </m:sSub>
                  </m:oMath>
                </a14:m>
                <a:r>
                  <a:rPr lang="en-US" sz="1700" i="0" dirty="0"/>
                  <a:t> has hotter stars on the left and cooler stars on the right</a:t>
                </a:r>
                <a:endParaRPr lang="en-US" sz="1700" dirty="0"/>
              </a:p>
            </p:txBody>
          </p:sp>
        </mc:Choice>
        <mc:Fallback>
          <p:sp>
            <p:nvSpPr>
              <p:cNvPr id="5" name="Subtitle 4">
                <a:extLst>
                  <a:ext uri="{FF2B5EF4-FFF2-40B4-BE49-F238E27FC236}">
                    <a16:creationId xmlns:a16="http://schemas.microsoft.com/office/drawing/2014/main" id="{67F0C076-76F6-1C7B-3E39-2FA671E302E6}"/>
                  </a:ext>
                </a:extLst>
              </p:cNvPr>
              <p:cNvSpPr>
                <a:spLocks noGrp="1" noRot="1" noChangeAspect="1" noMove="1" noResize="1" noEditPoints="1" noAdjustHandles="1" noChangeArrowheads="1" noChangeShapeType="1" noTextEdit="1"/>
              </p:cNvSpPr>
              <p:nvPr>
                <p:ph type="subTitle" idx="1"/>
              </p:nvPr>
            </p:nvSpPr>
            <p:spPr>
              <a:xfrm>
                <a:off x="517868" y="2395289"/>
                <a:ext cx="5910364" cy="2995558"/>
              </a:xfrm>
              <a:blipFill>
                <a:blip r:embed="rId3"/>
                <a:stretch>
                  <a:fillRect l="-619" t="-2037" r="-309"/>
                </a:stretch>
              </a:blipFill>
            </p:spPr>
            <p:txBody>
              <a:bodyPr/>
              <a:lstStyle/>
              <a:p>
                <a:r>
                  <a:rPr lang="en-US">
                    <a:noFill/>
                  </a:rPr>
                  <a:t> </a:t>
                </a:r>
              </a:p>
            </p:txBody>
          </p:sp>
        </mc:Fallback>
      </mc:AlternateContent>
      <p:sp>
        <p:nvSpPr>
          <p:cNvPr id="14" name="Freeform: Shape 13">
            <a:extLst>
              <a:ext uri="{FF2B5EF4-FFF2-40B4-BE49-F238E27FC236}">
                <a16:creationId xmlns:a16="http://schemas.microsoft.com/office/drawing/2014/main" id="{BD0C058D-27D4-3139-E199-E2C11099B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6A66952D-C082-32D1-58BE-402B36D13D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1464" y="1000768"/>
            <a:ext cx="3410971" cy="3317170"/>
          </a:xfrm>
          <a:prstGeom prst="rect">
            <a:avLst/>
          </a:prstGeom>
        </p:spPr>
      </p:pic>
      <p:sp>
        <p:nvSpPr>
          <p:cNvPr id="16" name="Freeform: Shape 15">
            <a:extLst>
              <a:ext uri="{FF2B5EF4-FFF2-40B4-BE49-F238E27FC236}">
                <a16:creationId xmlns:a16="http://schemas.microsoft.com/office/drawing/2014/main" id="{E94E0531-D614-3CB6-996E-FF0184A3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extBox 12">
            <a:extLst>
              <a:ext uri="{FF2B5EF4-FFF2-40B4-BE49-F238E27FC236}">
                <a16:creationId xmlns:a16="http://schemas.microsoft.com/office/drawing/2014/main" id="{4AD7F958-4A1B-329B-4020-7E84EF58C04A}"/>
              </a:ext>
            </a:extLst>
          </p:cNvPr>
          <p:cNvSpPr txBox="1"/>
          <p:nvPr/>
        </p:nvSpPr>
        <p:spPr>
          <a:xfrm>
            <a:off x="7141464" y="4452128"/>
            <a:ext cx="4361689" cy="938719"/>
          </a:xfrm>
          <a:prstGeom prst="rect">
            <a:avLst/>
          </a:prstGeom>
          <a:noFill/>
        </p:spPr>
        <p:txBody>
          <a:bodyPr wrap="square" rtlCol="0">
            <a:spAutoFit/>
          </a:bodyPr>
          <a:lstStyle/>
          <a:p>
            <a:r>
              <a:rPr lang="en-US" sz="1100" dirty="0"/>
              <a:t>Intermediate-Mass Stars Become Magnetic White Dwarfs - Scientific Figure on ResearchGate. Available from: https://www.researchgate.net/figure/Gaia-color-magnitude-diagram-for-the-three-clusters-The-WDs-can-be-seen-in-the-lower_fig2_344169640 [accessed 20 May 2026]</a:t>
            </a:r>
          </a:p>
        </p:txBody>
      </p:sp>
    </p:spTree>
    <p:extLst>
      <p:ext uri="{BB962C8B-B14F-4D97-AF65-F5344CB8AC3E}">
        <p14:creationId xmlns:p14="http://schemas.microsoft.com/office/powerpoint/2010/main" val="64409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F3D02-663C-CC65-15FE-CF93E245412B}"/>
              </a:ext>
            </a:extLst>
          </p:cNvPr>
          <p:cNvSpPr>
            <a:spLocks noGrp="1"/>
          </p:cNvSpPr>
          <p:nvPr>
            <p:ph type="ctrTitle"/>
          </p:nvPr>
        </p:nvSpPr>
        <p:spPr>
          <a:xfrm>
            <a:off x="5566610" y="978408"/>
            <a:ext cx="6110277" cy="1845003"/>
          </a:xfrm>
        </p:spPr>
        <p:txBody>
          <a:bodyPr>
            <a:normAutofit/>
          </a:bodyPr>
          <a:lstStyle/>
          <a:p>
            <a:r>
              <a:rPr lang="en-US" sz="3600" dirty="0"/>
              <a:t>What is a Star Cluster, and Why Are CMDs Useful?</a:t>
            </a:r>
            <a:endParaRPr lang="en-US" sz="3500" dirty="0"/>
          </a:p>
        </p:txBody>
      </p:sp>
      <p:sp>
        <p:nvSpPr>
          <p:cNvPr id="3" name="Subtitle 2">
            <a:extLst>
              <a:ext uri="{FF2B5EF4-FFF2-40B4-BE49-F238E27FC236}">
                <a16:creationId xmlns:a16="http://schemas.microsoft.com/office/drawing/2014/main" id="{B8D8D2A1-390F-02CC-8B5D-5C110247B4AD}"/>
              </a:ext>
            </a:extLst>
          </p:cNvPr>
          <p:cNvSpPr>
            <a:spLocks noGrp="1"/>
          </p:cNvSpPr>
          <p:nvPr>
            <p:ph type="subTitle" idx="1"/>
          </p:nvPr>
        </p:nvSpPr>
        <p:spPr>
          <a:xfrm>
            <a:off x="5566610" y="2085475"/>
            <a:ext cx="6238613" cy="3015914"/>
          </a:xfrm>
        </p:spPr>
        <p:txBody>
          <a:bodyPr anchor="t">
            <a:normAutofit fontScale="92500" lnSpcReduction="10000"/>
          </a:bodyPr>
          <a:lstStyle/>
          <a:p>
            <a:r>
              <a:rPr lang="en-US" dirty="0"/>
              <a:t>-A star cluster is a group of stars that formed from the same nebula. This means the stars often have similar ages, distances from Earth, and chemical compositions, but their masses can differ. </a:t>
            </a:r>
          </a:p>
          <a:p>
            <a:r>
              <a:rPr lang="en-US" dirty="0"/>
              <a:t>- CMDs are useful for studying star clusters because they show how stars are distributed by brightness and color. This makes it easier to identify features like the main sequence, locate the main sequence turnoff point, and estimate the cluster’s age.</a:t>
            </a:r>
          </a:p>
        </p:txBody>
      </p:sp>
      <p:pic>
        <p:nvPicPr>
          <p:cNvPr id="8" name="Picture 7">
            <a:extLst>
              <a:ext uri="{FF2B5EF4-FFF2-40B4-BE49-F238E27FC236}">
                <a16:creationId xmlns:a16="http://schemas.microsoft.com/office/drawing/2014/main" id="{5088C7F0-6144-B51E-C62D-85A731C365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14" y="1347740"/>
            <a:ext cx="4919920" cy="3801407"/>
          </a:xfrm>
          <a:prstGeom prst="rect">
            <a:avLst/>
          </a:prstGeom>
        </p:spPr>
      </p:pic>
      <p:sp>
        <p:nvSpPr>
          <p:cNvPr id="9" name="TextBox 8">
            <a:extLst>
              <a:ext uri="{FF2B5EF4-FFF2-40B4-BE49-F238E27FC236}">
                <a16:creationId xmlns:a16="http://schemas.microsoft.com/office/drawing/2014/main" id="{BB00C3AB-3F8E-C6A9-CA42-0A9542C18507}"/>
              </a:ext>
            </a:extLst>
          </p:cNvPr>
          <p:cNvSpPr txBox="1"/>
          <p:nvPr/>
        </p:nvSpPr>
        <p:spPr>
          <a:xfrm>
            <a:off x="515114" y="5357679"/>
            <a:ext cx="5454316" cy="553998"/>
          </a:xfrm>
          <a:prstGeom prst="rect">
            <a:avLst/>
          </a:prstGeom>
          <a:noFill/>
        </p:spPr>
        <p:txBody>
          <a:bodyPr wrap="square" rtlCol="0">
            <a:spAutoFit/>
          </a:bodyPr>
          <a:lstStyle/>
          <a:p>
            <a:r>
              <a:rPr lang="en-US" sz="1000" dirty="0"/>
              <a:t>“Messier 67 - NASA Science.” </a:t>
            </a:r>
            <a:r>
              <a:rPr lang="en-US" sz="1000" i="1" dirty="0"/>
              <a:t>NASA</a:t>
            </a:r>
            <a:r>
              <a:rPr lang="en-US" sz="1000" dirty="0"/>
              <a:t>, NASA, 25 Mar. 2025, science.nasa.gov/mission/</a:t>
            </a:r>
            <a:r>
              <a:rPr lang="en-US" sz="1000" dirty="0" err="1"/>
              <a:t>hubble</a:t>
            </a:r>
            <a:r>
              <a:rPr lang="en-US" sz="1000" dirty="0"/>
              <a:t>/science/explore-the-night-sky/</a:t>
            </a:r>
            <a:r>
              <a:rPr lang="en-US" sz="1000" dirty="0" err="1"/>
              <a:t>hubble</a:t>
            </a:r>
            <a:r>
              <a:rPr lang="en-US" sz="1000" dirty="0"/>
              <a:t>-messier-catalog/messier-67/. </a:t>
            </a:r>
            <a:endParaRPr lang="en-US" sz="1000" dirty="0">
              <a:effectLst/>
            </a:endParaRPr>
          </a:p>
        </p:txBody>
      </p:sp>
    </p:spTree>
    <p:extLst>
      <p:ext uri="{BB962C8B-B14F-4D97-AF65-F5344CB8AC3E}">
        <p14:creationId xmlns:p14="http://schemas.microsoft.com/office/powerpoint/2010/main" val="4216113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7AF6AC-561A-FB89-5A09-9FFB39FB9E7B}"/>
              </a:ext>
            </a:extLst>
          </p:cNvPr>
          <p:cNvSpPr>
            <a:spLocks noGrp="1"/>
          </p:cNvSpPr>
          <p:nvPr>
            <p:ph type="ctrTitle"/>
          </p:nvPr>
        </p:nvSpPr>
        <p:spPr>
          <a:xfrm>
            <a:off x="521209" y="971397"/>
            <a:ext cx="3462236" cy="2947460"/>
          </a:xfrm>
        </p:spPr>
        <p:txBody>
          <a:bodyPr anchor="t">
            <a:normAutofit/>
          </a:bodyPr>
          <a:lstStyle/>
          <a:p>
            <a:r>
              <a:rPr lang="en-US" sz="3500" dirty="0"/>
              <a:t>How to Read a CMD</a:t>
            </a:r>
          </a:p>
        </p:txBody>
      </p:sp>
      <p:sp>
        <p:nvSpPr>
          <p:cNvPr id="3" name="Subtitle 2">
            <a:extLst>
              <a:ext uri="{FF2B5EF4-FFF2-40B4-BE49-F238E27FC236}">
                <a16:creationId xmlns:a16="http://schemas.microsoft.com/office/drawing/2014/main" id="{20C2E94A-008D-D6CE-3615-B3F68F136134}"/>
              </a:ext>
            </a:extLst>
          </p:cNvPr>
          <p:cNvSpPr>
            <a:spLocks noGrp="1"/>
          </p:cNvSpPr>
          <p:nvPr>
            <p:ph type="subTitle" idx="1"/>
          </p:nvPr>
        </p:nvSpPr>
        <p:spPr>
          <a:xfrm>
            <a:off x="517868" y="2002856"/>
            <a:ext cx="5209004" cy="4203624"/>
          </a:xfrm>
        </p:spPr>
        <p:txBody>
          <a:bodyPr anchor="t">
            <a:noAutofit/>
          </a:bodyPr>
          <a:lstStyle/>
          <a:p>
            <a:pPr>
              <a:lnSpc>
                <a:spcPct val="100000"/>
              </a:lnSpc>
            </a:pPr>
            <a:r>
              <a:rPr lang="en-US" sz="1200" dirty="0"/>
              <a:t>Stars on a CMD can be categorized based on their position. The major regions are:</a:t>
            </a:r>
          </a:p>
          <a:p>
            <a:pPr>
              <a:lnSpc>
                <a:spcPct val="100000"/>
              </a:lnSpc>
            </a:pPr>
            <a:r>
              <a:rPr lang="en-US" sz="1200" b="1" i="0" dirty="0"/>
              <a:t>1. Main sequence- </a:t>
            </a:r>
            <a:r>
              <a:rPr lang="en-US" sz="1200" dirty="0"/>
              <a:t>The main sequence is where a star spends the majority of its life. At this stage, stars are actively using hydrogen fusion to create helium in their cores.</a:t>
            </a:r>
          </a:p>
          <a:p>
            <a:pPr>
              <a:lnSpc>
                <a:spcPct val="100000"/>
              </a:lnSpc>
            </a:pPr>
            <a:r>
              <a:rPr lang="en-US" sz="1200" b="1" i="0" dirty="0"/>
              <a:t>2. Giants-</a:t>
            </a:r>
            <a:r>
              <a:rPr lang="en-US" sz="1200" i="0" dirty="0"/>
              <a:t> </a:t>
            </a:r>
            <a:r>
              <a:rPr lang="en-US" sz="1200" dirty="0"/>
              <a:t>These are stars that have left the main sequence and expanded, becoming larger and therefore brighter. They are often cooler than main sequence stars, so many appear red or orange.</a:t>
            </a:r>
          </a:p>
          <a:p>
            <a:pPr>
              <a:lnSpc>
                <a:spcPct val="100000"/>
              </a:lnSpc>
            </a:pPr>
            <a:r>
              <a:rPr lang="en-US" sz="1200" b="1" i="0" dirty="0"/>
              <a:t>3. </a:t>
            </a:r>
            <a:r>
              <a:rPr lang="en-US" sz="1200" b="1" i="0" dirty="0" err="1"/>
              <a:t>Supergiants</a:t>
            </a:r>
            <a:r>
              <a:rPr lang="en-US" sz="1200" b="1" i="0" dirty="0"/>
              <a:t>- </a:t>
            </a:r>
            <a:r>
              <a:rPr lang="en-US" sz="1200" dirty="0"/>
              <a:t>Extremely large and evolved stars. Their color can vary based on temperature, and they usually have shorter lifetimes compared to lower-mass stars.</a:t>
            </a:r>
          </a:p>
          <a:p>
            <a:pPr>
              <a:lnSpc>
                <a:spcPct val="100000"/>
              </a:lnSpc>
            </a:pPr>
            <a:r>
              <a:rPr lang="en-US" sz="1200" b="1" i="0" dirty="0"/>
              <a:t>4. White Dwarfs- </a:t>
            </a:r>
            <a:r>
              <a:rPr lang="en-US" sz="1200" dirty="0"/>
              <a:t>These are leftover cores of low- or medium-mass stars and are no longer going through normal fusion. They are very hot but dim because of their small surface area.</a:t>
            </a:r>
          </a:p>
          <a:p>
            <a:pPr>
              <a:lnSpc>
                <a:spcPct val="100000"/>
              </a:lnSpc>
            </a:pPr>
            <a:r>
              <a:rPr lang="en-US" sz="1200" b="1" i="0" dirty="0"/>
              <a:t>Turnoff Point- </a:t>
            </a:r>
            <a:r>
              <a:rPr lang="en-US" sz="1200" dirty="0"/>
              <a:t>This is the region where stars start to leave the main sequence after using up much of their core hydrogen. More massive stars leave the main sequence earlier because they burn through fuel faster than lower-mass stars.</a:t>
            </a:r>
            <a:endParaRPr lang="en-US" sz="1200" b="1" i="0" dirty="0"/>
          </a:p>
        </p:txBody>
      </p:sp>
      <p:sp>
        <p:nvSpPr>
          <p:cNvPr id="12" name="Rectangle 11">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D01E141-7831-808B-7C1A-ACE7064545F4}"/>
              </a:ext>
            </a:extLst>
          </p:cNvPr>
          <p:cNvPicPr>
            <a:picLocks noChangeAspect="1"/>
          </p:cNvPicPr>
          <p:nvPr/>
        </p:nvPicPr>
        <p:blipFill>
          <a:blip r:embed="rId2">
            <a:extLst>
              <a:ext uri="{28A0092B-C50C-407E-A947-70E740481C1C}">
                <a14:useLocalDpi xmlns:a14="http://schemas.microsoft.com/office/drawing/2010/main" val="0"/>
              </a:ext>
            </a:extLst>
          </a:blip>
          <a:srcRect t="10229" r="21926"/>
          <a:stretch>
            <a:fillRect/>
          </a:stretch>
        </p:blipFill>
        <p:spPr>
          <a:xfrm>
            <a:off x="5726872" y="1116602"/>
            <a:ext cx="4636328" cy="3998282"/>
          </a:xfrm>
          <a:prstGeom prst="rect">
            <a:avLst/>
          </a:prstGeom>
        </p:spPr>
      </p:pic>
      <p:sp>
        <p:nvSpPr>
          <p:cNvPr id="14" name="Rectangle 13">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7545E66-D8F8-9E30-09E7-AF580287B23F}"/>
              </a:ext>
            </a:extLst>
          </p:cNvPr>
          <p:cNvSpPr txBox="1"/>
          <p:nvPr/>
        </p:nvSpPr>
        <p:spPr>
          <a:xfrm>
            <a:off x="5652120" y="5122774"/>
            <a:ext cx="6275010" cy="1169551"/>
          </a:xfrm>
          <a:prstGeom prst="rect">
            <a:avLst/>
          </a:prstGeom>
          <a:noFill/>
        </p:spPr>
        <p:txBody>
          <a:bodyPr wrap="square" rtlCol="0">
            <a:spAutoFit/>
          </a:bodyPr>
          <a:lstStyle/>
          <a:p>
            <a:r>
              <a:rPr lang="en-US" sz="1400" b="1" dirty="0"/>
              <a:t>Keys to Determining a Star Cluster’s Age</a:t>
            </a:r>
          </a:p>
          <a:p>
            <a:r>
              <a:rPr lang="en-US" sz="1400" b="1" dirty="0"/>
              <a:t>-</a:t>
            </a:r>
            <a:r>
              <a:rPr lang="en-US" sz="1400" dirty="0"/>
              <a:t>A star cluster’s age can be estimated using the main sequence turnoff point. Younger clusters have hotter, brighter, and bluer turnoffs, while older clusters have lower, redder turnoffs. This happens because massive stars burn through core hydrogen faster and leave the main sequence earlier.</a:t>
            </a:r>
            <a:endParaRPr lang="en-US" sz="1400" b="1" dirty="0"/>
          </a:p>
        </p:txBody>
      </p:sp>
      <p:sp>
        <p:nvSpPr>
          <p:cNvPr id="4" name="TextBox 3">
            <a:extLst>
              <a:ext uri="{FF2B5EF4-FFF2-40B4-BE49-F238E27FC236}">
                <a16:creationId xmlns:a16="http://schemas.microsoft.com/office/drawing/2014/main" id="{1D13658A-D409-EF85-4871-68443DBEAEBF}"/>
              </a:ext>
            </a:extLst>
          </p:cNvPr>
          <p:cNvSpPr txBox="1"/>
          <p:nvPr/>
        </p:nvSpPr>
        <p:spPr>
          <a:xfrm>
            <a:off x="6473952" y="637784"/>
            <a:ext cx="4425696" cy="553998"/>
          </a:xfrm>
          <a:prstGeom prst="rect">
            <a:avLst/>
          </a:prstGeom>
          <a:noFill/>
        </p:spPr>
        <p:txBody>
          <a:bodyPr wrap="square" rtlCol="0">
            <a:spAutoFit/>
          </a:bodyPr>
          <a:lstStyle/>
          <a:p>
            <a:r>
              <a:rPr lang="en-US" sz="1000" dirty="0"/>
              <a:t>“Age of Star Clusters &amp; Red Giants.” </a:t>
            </a:r>
            <a:r>
              <a:rPr lang="en-US" sz="1000" i="1" dirty="0"/>
              <a:t>Angles and Acid</a:t>
            </a:r>
            <a:r>
              <a:rPr lang="en-US" sz="1000" dirty="0"/>
              <a:t>, www.anglesandacid.com/age-of-star-clusters--red-giants.html. Accessed 26 May 2026. </a:t>
            </a:r>
            <a:endParaRPr lang="en-US" sz="1000" dirty="0">
              <a:effectLst/>
            </a:endParaRPr>
          </a:p>
        </p:txBody>
      </p:sp>
    </p:spTree>
    <p:extLst>
      <p:ext uri="{BB962C8B-B14F-4D97-AF65-F5344CB8AC3E}">
        <p14:creationId xmlns:p14="http://schemas.microsoft.com/office/powerpoint/2010/main" val="1670882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D7F9EC8-0E2C-4023-9DD1-73BEF6B80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E805C3-DC49-7821-08FB-E0AD126E0613}"/>
              </a:ext>
            </a:extLst>
          </p:cNvPr>
          <p:cNvSpPr>
            <a:spLocks noGrp="1"/>
          </p:cNvSpPr>
          <p:nvPr>
            <p:ph type="ctrTitle"/>
          </p:nvPr>
        </p:nvSpPr>
        <p:spPr>
          <a:xfrm>
            <a:off x="517870" y="978409"/>
            <a:ext cx="6959255" cy="764336"/>
          </a:xfrm>
        </p:spPr>
        <p:txBody>
          <a:bodyPr anchor="t">
            <a:noAutofit/>
          </a:bodyPr>
          <a:lstStyle/>
          <a:p>
            <a:r>
              <a:rPr lang="en-US" sz="2300" dirty="0"/>
              <a:t>Gaia telescope and M67 star cluster</a:t>
            </a:r>
          </a:p>
        </p:txBody>
      </p:sp>
      <p:sp>
        <p:nvSpPr>
          <p:cNvPr id="3" name="Subtitle 2">
            <a:extLst>
              <a:ext uri="{FF2B5EF4-FFF2-40B4-BE49-F238E27FC236}">
                <a16:creationId xmlns:a16="http://schemas.microsoft.com/office/drawing/2014/main" id="{25B5C2AB-0907-BF8C-ACBC-3E4CE8CED6E3}"/>
              </a:ext>
            </a:extLst>
          </p:cNvPr>
          <p:cNvSpPr>
            <a:spLocks noGrp="1"/>
          </p:cNvSpPr>
          <p:nvPr>
            <p:ph type="subTitle" idx="1"/>
          </p:nvPr>
        </p:nvSpPr>
        <p:spPr>
          <a:xfrm>
            <a:off x="517870" y="1764070"/>
            <a:ext cx="6123141" cy="4206962"/>
          </a:xfrm>
        </p:spPr>
        <p:txBody>
          <a:bodyPr anchor="t">
            <a:normAutofit/>
          </a:bodyPr>
          <a:lstStyle/>
          <a:p>
            <a:r>
              <a:rPr lang="en-US" sz="1800" i="0" dirty="0"/>
              <a:t>-</a:t>
            </a:r>
            <a:r>
              <a:rPr lang="en-US" sz="1800" dirty="0"/>
              <a:t>Gaia is a space observatory operated by the European Space Agency (ESA), and its data are publicly available. The ESA describes Gaia’s mission as follows: “A global space astrometry mission, Gaia built the largest, most precise three-dimensional map of our Galaxy by surveying nearly two billion objects.”</a:t>
            </a:r>
            <a:endParaRPr lang="en-US" sz="1800" i="0" dirty="0"/>
          </a:p>
          <a:p>
            <a:r>
              <a:rPr lang="en-US" sz="1800" i="0" dirty="0"/>
              <a:t>- </a:t>
            </a:r>
            <a:r>
              <a:rPr lang="en-US" sz="1800" dirty="0"/>
              <a:t>Messier 67 (M67) is one of the older and most well-studied open star clusters. It was first recorded in 1779 by Johann Gottfried Koehler. M67 is around 2,800 light-years away from Earth and contains several hundred known stars. M67 is especially well known because its age is similar to that of our own Sun, at around 4 billion years old.</a:t>
            </a:r>
            <a:endParaRPr lang="en-US" sz="1800" i="0" dirty="0"/>
          </a:p>
        </p:txBody>
      </p:sp>
      <p:sp>
        <p:nvSpPr>
          <p:cNvPr id="16" name="Rectangle 15">
            <a:extLst>
              <a:ext uri="{FF2B5EF4-FFF2-40B4-BE49-F238E27FC236}">
                <a16:creationId xmlns:a16="http://schemas.microsoft.com/office/drawing/2014/main" id="{6270D10B-6EA2-89DB-412E-A83B81393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0301BA4-10E6-44CC-9EEC-727EDF3BC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61513" y="6300216"/>
            <a:ext cx="452183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aia mapping the stars of the Milky Way">
            <a:extLst>
              <a:ext uri="{FF2B5EF4-FFF2-40B4-BE49-F238E27FC236}">
                <a16:creationId xmlns:a16="http://schemas.microsoft.com/office/drawing/2014/main" id="{577595C5-6BF2-D513-86BE-23565566316E}"/>
              </a:ext>
            </a:extLst>
          </p:cNvPr>
          <p:cNvPicPr>
            <a:picLocks noChangeAspect="1"/>
          </p:cNvPicPr>
          <p:nvPr/>
        </p:nvPicPr>
        <p:blipFill>
          <a:blip r:embed="rId2"/>
          <a:stretch>
            <a:fillRect/>
          </a:stretch>
        </p:blipFill>
        <p:spPr>
          <a:xfrm>
            <a:off x="6766173" y="2721154"/>
            <a:ext cx="5226201" cy="3467802"/>
          </a:xfrm>
          <a:prstGeom prst="rect">
            <a:avLst/>
          </a:prstGeom>
        </p:spPr>
      </p:pic>
      <p:sp>
        <p:nvSpPr>
          <p:cNvPr id="7" name="TextBox 6">
            <a:extLst>
              <a:ext uri="{FF2B5EF4-FFF2-40B4-BE49-F238E27FC236}">
                <a16:creationId xmlns:a16="http://schemas.microsoft.com/office/drawing/2014/main" id="{A45C99AB-8827-6FB8-21B9-1DEED72F0A35}"/>
              </a:ext>
            </a:extLst>
          </p:cNvPr>
          <p:cNvSpPr txBox="1"/>
          <p:nvPr/>
        </p:nvSpPr>
        <p:spPr>
          <a:xfrm>
            <a:off x="7122964" y="1890157"/>
            <a:ext cx="4512617" cy="830997"/>
          </a:xfrm>
          <a:prstGeom prst="rect">
            <a:avLst/>
          </a:prstGeom>
          <a:noFill/>
        </p:spPr>
        <p:txBody>
          <a:bodyPr wrap="square" rtlCol="0">
            <a:spAutoFit/>
          </a:bodyPr>
          <a:lstStyle/>
          <a:p>
            <a:r>
              <a:rPr lang="en-US" sz="1000" dirty="0"/>
              <a:t>“Gaia Overview.” </a:t>
            </a:r>
            <a:r>
              <a:rPr lang="en-US" sz="1000" i="1" dirty="0"/>
              <a:t>ESA</a:t>
            </a:r>
            <a:r>
              <a:rPr lang="en-US" sz="1000" dirty="0"/>
              <a:t>, www.esa.int/Science_Exploration/Space_Science/Gaia_overview. Accessed 26 May 2026. </a:t>
            </a:r>
          </a:p>
          <a:p>
            <a:endParaRPr lang="en-US" dirty="0"/>
          </a:p>
        </p:txBody>
      </p:sp>
    </p:spTree>
    <p:extLst>
      <p:ext uri="{BB962C8B-B14F-4D97-AF65-F5344CB8AC3E}">
        <p14:creationId xmlns:p14="http://schemas.microsoft.com/office/powerpoint/2010/main" val="2105609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839C2F19-8FC2-4576-A76C-228178053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1A6A0E-5438-EC02-CE0D-96098EA39F59}"/>
              </a:ext>
            </a:extLst>
          </p:cNvPr>
          <p:cNvSpPr>
            <a:spLocks noGrp="1"/>
          </p:cNvSpPr>
          <p:nvPr>
            <p:ph type="ctrTitle"/>
          </p:nvPr>
        </p:nvSpPr>
        <p:spPr>
          <a:xfrm>
            <a:off x="4411579" y="978408"/>
            <a:ext cx="7210445" cy="1463040"/>
          </a:xfrm>
        </p:spPr>
        <p:txBody>
          <a:bodyPr vert="horz" lIns="91440" tIns="45720" rIns="91440" bIns="45720" rtlCol="0" anchor="t">
            <a:normAutofit/>
          </a:bodyPr>
          <a:lstStyle/>
          <a:p>
            <a:r>
              <a:rPr lang="en-US" sz="3200" dirty="0"/>
              <a:t>Extracting and Filtering Gaia Data</a:t>
            </a:r>
            <a:endParaRPr lang="en-US" sz="3200" b="1"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98D2005B-DA88-C52A-8D8E-4CEF628C1D85}"/>
              </a:ext>
            </a:extLst>
          </p:cNvPr>
          <p:cNvPicPr>
            <a:picLocks noChangeAspect="1"/>
          </p:cNvPicPr>
          <p:nvPr/>
        </p:nvPicPr>
        <p:blipFill>
          <a:blip r:embed="rId2"/>
          <a:srcRect l="7085" t="35837" r="16734" b="5686"/>
          <a:stretch>
            <a:fillRect/>
          </a:stretch>
        </p:blipFill>
        <p:spPr>
          <a:xfrm>
            <a:off x="696448" y="508091"/>
            <a:ext cx="3233302" cy="2444659"/>
          </a:xfrm>
          <a:prstGeom prst="rect">
            <a:avLst/>
          </a:prstGeom>
        </p:spPr>
      </p:pic>
      <p:sp>
        <p:nvSpPr>
          <p:cNvPr id="15" name="Rectangle 14">
            <a:extLst>
              <a:ext uri="{FF2B5EF4-FFF2-40B4-BE49-F238E27FC236}">
                <a16:creationId xmlns:a16="http://schemas.microsoft.com/office/drawing/2014/main" id="{2CA7A481-09B7-459B-9BA1-EA1BEB4F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00" y="508090"/>
            <a:ext cx="619048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E1DAFA5-515E-32E3-B3D4-A8E53BBFD33F}"/>
              </a:ext>
            </a:extLst>
          </p:cNvPr>
          <p:cNvPicPr>
            <a:picLocks noChangeAspect="1"/>
          </p:cNvPicPr>
          <p:nvPr/>
        </p:nvPicPr>
        <p:blipFill>
          <a:blip r:embed="rId3"/>
          <a:srcRect l="10417" t="31149" r="18357" b="9780"/>
          <a:stretch>
            <a:fillRect/>
          </a:stretch>
        </p:blipFill>
        <p:spPr>
          <a:xfrm>
            <a:off x="696446" y="3221629"/>
            <a:ext cx="3233301" cy="3124307"/>
          </a:xfrm>
          <a:prstGeom prst="rect">
            <a:avLst/>
          </a:prstGeom>
        </p:spPr>
      </p:pic>
      <p:sp>
        <p:nvSpPr>
          <p:cNvPr id="3" name="Subtitle 2">
            <a:extLst>
              <a:ext uri="{FF2B5EF4-FFF2-40B4-BE49-F238E27FC236}">
                <a16:creationId xmlns:a16="http://schemas.microsoft.com/office/drawing/2014/main" id="{1614F5B1-B8F7-CECE-666A-1D88C0979D52}"/>
              </a:ext>
            </a:extLst>
          </p:cNvPr>
          <p:cNvSpPr>
            <a:spLocks noGrp="1"/>
          </p:cNvSpPr>
          <p:nvPr>
            <p:ph type="subTitle" idx="1"/>
          </p:nvPr>
        </p:nvSpPr>
        <p:spPr>
          <a:xfrm>
            <a:off x="4411579" y="1748589"/>
            <a:ext cx="7210445" cy="4597347"/>
          </a:xfrm>
        </p:spPr>
        <p:txBody>
          <a:bodyPr vert="horz" lIns="91440" tIns="45720" rIns="91440" bIns="45720" rtlCol="0" anchor="t">
            <a:normAutofit/>
          </a:bodyPr>
          <a:lstStyle/>
          <a:p>
            <a:r>
              <a:rPr lang="en-US" sz="1600" dirty="0"/>
              <a:t>-</a:t>
            </a:r>
            <a:r>
              <a:rPr lang="en-US" sz="1800" dirty="0"/>
              <a:t>The original Gaia query returned many stars near M67, but not all were actual cluster members. Some were foreground or background stars that only appear near M67 from Earth’s point of view. To reduce this contamination, I filtered the data using sky radius, parallax, and proper motion. Sky radius selected stars near M67’s location, parallax helped select stars near M67’s distance, and proper motion helped select stars moving similarly across the sky.</a:t>
            </a:r>
          </a:p>
          <a:p>
            <a:r>
              <a:rPr lang="en-US" sz="1800" dirty="0"/>
              <a:t>-After filtering, the CMD became easier to interpret because the main sequence and possible turnoff region were clearer. I completed the filtering and visualization in Python using pandas for data handling and matplotlib for plotting. Comparing the unfiltered and filtered graphs showed how important data cleaning is when working with real astronomical data.</a:t>
            </a:r>
          </a:p>
          <a:p>
            <a:pPr>
              <a:lnSpc>
                <a:spcPct val="100000"/>
              </a:lnSpc>
            </a:pPr>
            <a:endParaRPr lang="en-US" sz="1200" i="0" dirty="0"/>
          </a:p>
        </p:txBody>
      </p:sp>
      <p:sp>
        <p:nvSpPr>
          <p:cNvPr id="7" name="TextBox 6">
            <a:extLst>
              <a:ext uri="{FF2B5EF4-FFF2-40B4-BE49-F238E27FC236}">
                <a16:creationId xmlns:a16="http://schemas.microsoft.com/office/drawing/2014/main" id="{2E34BDA2-84BD-8969-1C16-07BA130ACE71}"/>
              </a:ext>
            </a:extLst>
          </p:cNvPr>
          <p:cNvSpPr txBox="1"/>
          <p:nvPr/>
        </p:nvSpPr>
        <p:spPr>
          <a:xfrm>
            <a:off x="1009650" y="138758"/>
            <a:ext cx="2771775" cy="276999"/>
          </a:xfrm>
          <a:prstGeom prst="rect">
            <a:avLst/>
          </a:prstGeom>
          <a:noFill/>
        </p:spPr>
        <p:txBody>
          <a:bodyPr wrap="square" rtlCol="0">
            <a:spAutoFit/>
          </a:bodyPr>
          <a:lstStyle/>
          <a:p>
            <a:r>
              <a:rPr lang="en-US" sz="1200" dirty="0"/>
              <a:t>Unfiltered</a:t>
            </a:r>
          </a:p>
        </p:txBody>
      </p:sp>
      <p:sp>
        <p:nvSpPr>
          <p:cNvPr id="8" name="TextBox 7">
            <a:extLst>
              <a:ext uri="{FF2B5EF4-FFF2-40B4-BE49-F238E27FC236}">
                <a16:creationId xmlns:a16="http://schemas.microsoft.com/office/drawing/2014/main" id="{6275D7D6-E294-10B6-D3FF-E795086191C6}"/>
              </a:ext>
            </a:extLst>
          </p:cNvPr>
          <p:cNvSpPr txBox="1"/>
          <p:nvPr/>
        </p:nvSpPr>
        <p:spPr>
          <a:xfrm>
            <a:off x="1009650" y="6345936"/>
            <a:ext cx="2771775" cy="276999"/>
          </a:xfrm>
          <a:prstGeom prst="rect">
            <a:avLst/>
          </a:prstGeom>
          <a:noFill/>
        </p:spPr>
        <p:txBody>
          <a:bodyPr wrap="square" rtlCol="0">
            <a:spAutoFit/>
          </a:bodyPr>
          <a:lstStyle/>
          <a:p>
            <a:r>
              <a:rPr lang="en-US" sz="1200" dirty="0"/>
              <a:t>Filtered </a:t>
            </a:r>
          </a:p>
        </p:txBody>
      </p:sp>
    </p:spTree>
    <p:extLst>
      <p:ext uri="{BB962C8B-B14F-4D97-AF65-F5344CB8AC3E}">
        <p14:creationId xmlns:p14="http://schemas.microsoft.com/office/powerpoint/2010/main" val="374213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A7C490-FB0D-4946-BDB7-1CF2F58DA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0F9F00-7884-DF9C-9164-E63F7A6408DD}"/>
              </a:ext>
            </a:extLst>
          </p:cNvPr>
          <p:cNvSpPr>
            <a:spLocks noGrp="1"/>
          </p:cNvSpPr>
          <p:nvPr>
            <p:ph type="ctrTitle"/>
          </p:nvPr>
        </p:nvSpPr>
        <p:spPr>
          <a:xfrm>
            <a:off x="517870" y="978408"/>
            <a:ext cx="5257819" cy="625803"/>
          </a:xfrm>
        </p:spPr>
        <p:txBody>
          <a:bodyPr anchor="t">
            <a:normAutofit fontScale="90000"/>
          </a:bodyPr>
          <a:lstStyle/>
          <a:p>
            <a:r>
              <a:rPr lang="en-US" sz="2400" dirty="0"/>
              <a:t>Identifying the Main Sequence Turnoff</a:t>
            </a:r>
            <a:endParaRPr lang="en-US" sz="2300" dirty="0"/>
          </a:p>
        </p:txBody>
      </p:sp>
      <p:sp>
        <p:nvSpPr>
          <p:cNvPr id="3" name="Subtitle 2">
            <a:extLst>
              <a:ext uri="{FF2B5EF4-FFF2-40B4-BE49-F238E27FC236}">
                <a16:creationId xmlns:a16="http://schemas.microsoft.com/office/drawing/2014/main" id="{0DA11F11-526C-5B06-E1A1-17B4F200253F}"/>
              </a:ext>
            </a:extLst>
          </p:cNvPr>
          <p:cNvSpPr>
            <a:spLocks noGrp="1"/>
          </p:cNvSpPr>
          <p:nvPr>
            <p:ph type="subTitle" idx="1"/>
          </p:nvPr>
        </p:nvSpPr>
        <p:spPr>
          <a:xfrm>
            <a:off x="517870" y="1556078"/>
            <a:ext cx="6141545" cy="4762647"/>
          </a:xfrm>
        </p:spPr>
        <p:txBody>
          <a:bodyPr anchor="t">
            <a:normAutofit/>
          </a:bodyPr>
          <a:lstStyle/>
          <a:p>
            <a:pPr>
              <a:lnSpc>
                <a:spcPct val="100000"/>
              </a:lnSpc>
            </a:pPr>
            <a:r>
              <a:rPr lang="en-US" sz="1400" dirty="0"/>
              <a:t>-The main sequence turnoff is a useful way to estimate the age of a star cluster because its location changes as the cluster evolves.</a:t>
            </a:r>
          </a:p>
          <a:p>
            <a:pPr>
              <a:lnSpc>
                <a:spcPct val="100000"/>
              </a:lnSpc>
            </a:pPr>
            <a:r>
              <a:rPr lang="en-US" sz="1400" dirty="0"/>
              <a:t>-The lower and redder position of M67’s main sequence turnoff suggests that it is an older cluster. In younger clusters, massive blue stars are still on the main sequence. In older clusters like M67, many of the more massive stars have already used up much of their core hydrogen and evolved away from the main sequence.</a:t>
            </a:r>
          </a:p>
          <a:p>
            <a:pPr>
              <a:lnSpc>
                <a:spcPct val="100000"/>
              </a:lnSpc>
            </a:pPr>
            <a:r>
              <a:rPr lang="en-US" sz="1400" dirty="0"/>
              <a:t>-</a:t>
            </a:r>
            <a:r>
              <a:rPr lang="en-US" sz="1400" b="1" dirty="0"/>
              <a:t>Key idea:</a:t>
            </a:r>
            <a:br>
              <a:rPr lang="en-US" sz="1400" dirty="0"/>
            </a:br>
            <a:r>
              <a:rPr lang="en-US" sz="1400" dirty="0"/>
              <a:t>Younger clusters have hotter, brighter turnoff points. Older clusters have cooler, dimmer turnoff points.</a:t>
            </a:r>
          </a:p>
          <a:p>
            <a:pPr>
              <a:lnSpc>
                <a:spcPct val="100000"/>
              </a:lnSpc>
            </a:pPr>
            <a:endParaRPr lang="en-US" sz="1400" dirty="0"/>
          </a:p>
          <a:p>
            <a:pPr>
              <a:lnSpc>
                <a:spcPct val="100000"/>
              </a:lnSpc>
            </a:pPr>
            <a:r>
              <a:rPr lang="en-US" sz="1400" dirty="0"/>
              <a:t>Key</a:t>
            </a:r>
          </a:p>
          <a:p>
            <a:pPr>
              <a:lnSpc>
                <a:spcPct val="100000"/>
              </a:lnSpc>
            </a:pPr>
            <a:r>
              <a:rPr lang="en-US" sz="1400" dirty="0"/>
              <a:t>A = Turnoff Point</a:t>
            </a:r>
          </a:p>
          <a:p>
            <a:pPr>
              <a:lnSpc>
                <a:spcPct val="100000"/>
              </a:lnSpc>
            </a:pPr>
            <a:r>
              <a:rPr lang="en-US" sz="1400" dirty="0"/>
              <a:t>B = Main Sequence</a:t>
            </a:r>
          </a:p>
          <a:p>
            <a:pPr>
              <a:lnSpc>
                <a:spcPct val="100000"/>
              </a:lnSpc>
            </a:pPr>
            <a:r>
              <a:rPr lang="en-US" sz="1400" dirty="0"/>
              <a:t>C = Giants/</a:t>
            </a:r>
            <a:r>
              <a:rPr lang="en-US" sz="1400" dirty="0" err="1"/>
              <a:t>Supergiants</a:t>
            </a:r>
            <a:endParaRPr lang="en-US" sz="1400" dirty="0"/>
          </a:p>
          <a:p>
            <a:pPr>
              <a:lnSpc>
                <a:spcPct val="100000"/>
              </a:lnSpc>
            </a:pPr>
            <a:r>
              <a:rPr lang="en-US" sz="1400" dirty="0"/>
              <a:t>D = White Dwarfs</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536A9F1-E1FA-5041-8B3B-C66C1D6D0DBA}"/>
              </a:ext>
            </a:extLst>
          </p:cNvPr>
          <p:cNvPicPr>
            <a:picLocks noChangeAspect="1"/>
          </p:cNvPicPr>
          <p:nvPr/>
        </p:nvPicPr>
        <p:blipFill>
          <a:blip r:embed="rId2"/>
          <a:srcRect l="10417" t="31149" r="18357" b="9780"/>
          <a:stretch>
            <a:fillRect/>
          </a:stretch>
        </p:blipFill>
        <p:spPr>
          <a:xfrm>
            <a:off x="7249513" y="2479971"/>
            <a:ext cx="4439999" cy="3627062"/>
          </a:xfrm>
          <a:prstGeom prst="rect">
            <a:avLst/>
          </a:prstGeom>
        </p:spPr>
      </p:pic>
      <p:sp>
        <p:nvSpPr>
          <p:cNvPr id="5" name="Oval 4">
            <a:extLst>
              <a:ext uri="{FF2B5EF4-FFF2-40B4-BE49-F238E27FC236}">
                <a16:creationId xmlns:a16="http://schemas.microsoft.com/office/drawing/2014/main" id="{313531D3-88DE-EDC0-805E-3793232FFD5E}"/>
              </a:ext>
            </a:extLst>
          </p:cNvPr>
          <p:cNvSpPr/>
          <p:nvPr/>
        </p:nvSpPr>
        <p:spPr>
          <a:xfrm>
            <a:off x="8773234" y="3460489"/>
            <a:ext cx="1065710" cy="8330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61CD1D-C921-4DD4-B856-8EA1D71A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49513" y="6209925"/>
            <a:ext cx="445472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AA0B8AF-696C-7783-9EFE-05203EF7EA4A}"/>
              </a:ext>
            </a:extLst>
          </p:cNvPr>
          <p:cNvSpPr/>
          <p:nvPr/>
        </p:nvSpPr>
        <p:spPr>
          <a:xfrm rot="1620256">
            <a:off x="8754147" y="4365658"/>
            <a:ext cx="2957115" cy="67640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EED4C03-05A7-1426-F041-310637A31286}"/>
              </a:ext>
            </a:extLst>
          </p:cNvPr>
          <p:cNvSpPr/>
          <p:nvPr/>
        </p:nvSpPr>
        <p:spPr>
          <a:xfrm>
            <a:off x="9400032" y="2689203"/>
            <a:ext cx="1782286" cy="114910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0EA90A4-4A9C-CBE8-95C6-4D98686A77E5}"/>
              </a:ext>
            </a:extLst>
          </p:cNvPr>
          <p:cNvSpPr/>
          <p:nvPr/>
        </p:nvSpPr>
        <p:spPr>
          <a:xfrm>
            <a:off x="7597011" y="4965192"/>
            <a:ext cx="975052" cy="6786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CE6CBFC0-D0AC-EA01-28C2-CBB557F1EAAD}"/>
              </a:ext>
            </a:extLst>
          </p:cNvPr>
          <p:cNvCxnSpPr>
            <a:cxnSpLocks/>
          </p:cNvCxnSpPr>
          <p:nvPr/>
        </p:nvCxnSpPr>
        <p:spPr>
          <a:xfrm>
            <a:off x="9002004" y="1969177"/>
            <a:ext cx="1119351" cy="24562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FAA1394-EC08-5250-A4E2-EFC977A3A39E}"/>
              </a:ext>
            </a:extLst>
          </p:cNvPr>
          <p:cNvCxnSpPr>
            <a:cxnSpLocks/>
          </p:cNvCxnSpPr>
          <p:nvPr/>
        </p:nvCxnSpPr>
        <p:spPr>
          <a:xfrm>
            <a:off x="8326639" y="1923611"/>
            <a:ext cx="835522" cy="17339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D6BAEC5-2F0E-5C33-5FE3-70A3114918F1}"/>
              </a:ext>
            </a:extLst>
          </p:cNvPr>
          <p:cNvCxnSpPr>
            <a:cxnSpLocks/>
          </p:cNvCxnSpPr>
          <p:nvPr/>
        </p:nvCxnSpPr>
        <p:spPr>
          <a:xfrm>
            <a:off x="7763256" y="1892808"/>
            <a:ext cx="203170" cy="3251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5341F5-75CB-F793-B35C-D67D11ED7DC2}"/>
              </a:ext>
            </a:extLst>
          </p:cNvPr>
          <p:cNvCxnSpPr>
            <a:cxnSpLocks/>
          </p:cNvCxnSpPr>
          <p:nvPr/>
        </p:nvCxnSpPr>
        <p:spPr>
          <a:xfrm>
            <a:off x="10246196" y="1920444"/>
            <a:ext cx="247581" cy="1062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2F300465-8FEA-0A60-686B-95D5963CD35D}"/>
              </a:ext>
            </a:extLst>
          </p:cNvPr>
          <p:cNvSpPr/>
          <p:nvPr/>
        </p:nvSpPr>
        <p:spPr>
          <a:xfrm>
            <a:off x="8261073" y="1472206"/>
            <a:ext cx="206722" cy="461665"/>
          </a:xfrm>
          <a:prstGeom prst="rect">
            <a:avLst/>
          </a:prstGeom>
          <a:noFill/>
        </p:spPr>
        <p:txBody>
          <a:bodyPr wrap="squar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A</a:t>
            </a:r>
          </a:p>
        </p:txBody>
      </p:sp>
      <p:sp>
        <p:nvSpPr>
          <p:cNvPr id="27" name="Rectangle 26">
            <a:extLst>
              <a:ext uri="{FF2B5EF4-FFF2-40B4-BE49-F238E27FC236}">
                <a16:creationId xmlns:a16="http://schemas.microsoft.com/office/drawing/2014/main" id="{9BBB08FD-9708-A8C1-D421-5AA941EDC8D6}"/>
              </a:ext>
            </a:extLst>
          </p:cNvPr>
          <p:cNvSpPr/>
          <p:nvPr/>
        </p:nvSpPr>
        <p:spPr>
          <a:xfrm>
            <a:off x="8913725" y="1472205"/>
            <a:ext cx="206722" cy="461665"/>
          </a:xfrm>
          <a:prstGeom prst="rect">
            <a:avLst/>
          </a:prstGeom>
          <a:noFill/>
        </p:spPr>
        <p:txBody>
          <a:bodyPr wrap="square" lIns="91440" tIns="45720" rIns="91440" bIns="45720">
            <a:spAutoFit/>
          </a:bodyPr>
          <a:lstStyle/>
          <a:p>
            <a:pPr algn="ctr"/>
            <a:r>
              <a:rPr lang="en-US" sz="2400" dirty="0">
                <a:ln w="0"/>
                <a:effectLst>
                  <a:outerShdw blurRad="38100" dist="19050" dir="2700000" algn="tl" rotWithShape="0">
                    <a:schemeClr val="dk1">
                      <a:alpha val="40000"/>
                    </a:schemeClr>
                  </a:outerShdw>
                </a:effectLst>
              </a:rPr>
              <a:t>B</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239927EE-3F51-BE0D-DA25-8D3063D41E77}"/>
              </a:ext>
            </a:extLst>
          </p:cNvPr>
          <p:cNvSpPr/>
          <p:nvPr/>
        </p:nvSpPr>
        <p:spPr>
          <a:xfrm>
            <a:off x="10093734" y="1472204"/>
            <a:ext cx="206722" cy="461665"/>
          </a:xfrm>
          <a:prstGeom prst="rect">
            <a:avLst/>
          </a:prstGeom>
          <a:noFill/>
        </p:spPr>
        <p:txBody>
          <a:bodyPr wrap="square" lIns="91440" tIns="45720" rIns="91440" bIns="45720">
            <a:spAutoFit/>
          </a:bodyPr>
          <a:lstStyle/>
          <a:p>
            <a:pPr algn="ctr"/>
            <a:r>
              <a:rPr lang="en-US" sz="2400" dirty="0">
                <a:ln w="0"/>
                <a:effectLst>
                  <a:outerShdw blurRad="38100" dist="19050" dir="2700000" algn="tl" rotWithShape="0">
                    <a:schemeClr val="dk1">
                      <a:alpha val="40000"/>
                    </a:schemeClr>
                  </a:outerShdw>
                </a:effectLst>
              </a:rPr>
              <a:t>C</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B3691236-E88D-6934-3FC6-38DA0137D63F}"/>
              </a:ext>
            </a:extLst>
          </p:cNvPr>
          <p:cNvSpPr/>
          <p:nvPr/>
        </p:nvSpPr>
        <p:spPr>
          <a:xfrm>
            <a:off x="7664186" y="1477282"/>
            <a:ext cx="206722" cy="461665"/>
          </a:xfrm>
          <a:prstGeom prst="rect">
            <a:avLst/>
          </a:prstGeom>
          <a:noFill/>
        </p:spPr>
        <p:txBody>
          <a:bodyPr wrap="square" lIns="91440" tIns="45720" rIns="91440" bIns="45720">
            <a:spAutoFit/>
          </a:bodyPr>
          <a:lstStyle/>
          <a:p>
            <a:pPr algn="ctr"/>
            <a:r>
              <a:rPr lang="en-US" sz="2400" dirty="0">
                <a:ln w="0"/>
                <a:effectLst>
                  <a:outerShdw blurRad="38100" dist="19050" dir="2700000" algn="tl" rotWithShape="0">
                    <a:schemeClr val="dk1">
                      <a:alpha val="40000"/>
                    </a:schemeClr>
                  </a:outerShdw>
                </a:effectLst>
              </a:rPr>
              <a:t>D</a:t>
            </a:r>
            <a:endParaRPr lang="en-US" sz="240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5045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7A7C490-FB0D-4946-BDB7-1CF2F58DA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187562-A7C9-4E2F-CED8-B9F76AAD7959}"/>
              </a:ext>
            </a:extLst>
          </p:cNvPr>
          <p:cNvSpPr>
            <a:spLocks noGrp="1"/>
          </p:cNvSpPr>
          <p:nvPr>
            <p:ph type="ctrTitle"/>
          </p:nvPr>
        </p:nvSpPr>
        <p:spPr>
          <a:xfrm>
            <a:off x="517870" y="978409"/>
            <a:ext cx="6117661" cy="1098586"/>
          </a:xfrm>
        </p:spPr>
        <p:txBody>
          <a:bodyPr anchor="t">
            <a:noAutofit/>
          </a:bodyPr>
          <a:lstStyle/>
          <a:p>
            <a:pPr>
              <a:lnSpc>
                <a:spcPct val="90000"/>
              </a:lnSpc>
            </a:pPr>
            <a:r>
              <a:rPr lang="en-US" sz="4800" dirty="0"/>
              <a:t>Final Age Estimate of M67</a:t>
            </a:r>
          </a:p>
        </p:txBody>
      </p:sp>
      <p:sp>
        <p:nvSpPr>
          <p:cNvPr id="3" name="Subtitle 2">
            <a:extLst>
              <a:ext uri="{FF2B5EF4-FFF2-40B4-BE49-F238E27FC236}">
                <a16:creationId xmlns:a16="http://schemas.microsoft.com/office/drawing/2014/main" id="{41CFB224-A41C-30F9-703E-9AD0B0ED2564}"/>
              </a:ext>
            </a:extLst>
          </p:cNvPr>
          <p:cNvSpPr>
            <a:spLocks noGrp="1"/>
          </p:cNvSpPr>
          <p:nvPr>
            <p:ph type="subTitle" idx="1"/>
          </p:nvPr>
        </p:nvSpPr>
        <p:spPr>
          <a:xfrm>
            <a:off x="489052" y="2398035"/>
            <a:ext cx="6141545" cy="1724029"/>
          </a:xfrm>
        </p:spPr>
        <p:txBody>
          <a:bodyPr anchor="t">
            <a:normAutofit fontScale="25000" lnSpcReduction="20000"/>
          </a:bodyPr>
          <a:lstStyle/>
          <a:p>
            <a:pPr>
              <a:lnSpc>
                <a:spcPct val="100000"/>
              </a:lnSpc>
            </a:pPr>
            <a:r>
              <a:rPr lang="en-US" sz="8800" dirty="0"/>
              <a:t>-The filtered CMD supports M67’s classification as an older open cluster. The main sequence turnoff appears lower and redder instead of high and blue, which suggests that many of the cluster’s more massive stars have already used up much of their core hydrogen and evolved away from the main sequence.</a:t>
            </a:r>
          </a:p>
          <a:p>
            <a:pPr>
              <a:lnSpc>
                <a:spcPct val="100000"/>
              </a:lnSpc>
            </a:pPr>
            <a:r>
              <a:rPr lang="en-US" sz="8800" dirty="0"/>
              <a:t>-This pattern is consistent with M67’s commonly reported age of about </a:t>
            </a:r>
            <a:r>
              <a:rPr lang="en-US" sz="8800" b="1" dirty="0"/>
              <a:t>4 billion years</a:t>
            </a:r>
            <a:r>
              <a:rPr lang="en-US" sz="8800" dirty="0"/>
              <a:t>, which is similar to the age of our Sun. </a:t>
            </a:r>
          </a:p>
          <a:p>
            <a:pPr>
              <a:lnSpc>
                <a:spcPct val="100000"/>
              </a:lnSpc>
            </a:pPr>
            <a:r>
              <a:rPr lang="en-US" sz="8800" dirty="0"/>
              <a:t>-Since this project used a visual turnoff estimate rather than full isochrone fitting, the age should be treated as an approximate estimate rather than an exact measurement.</a:t>
            </a:r>
          </a:p>
          <a:p>
            <a:pPr>
              <a:lnSpc>
                <a:spcPct val="100000"/>
              </a:lnSpc>
            </a:pPr>
            <a:r>
              <a:rPr lang="en-US" sz="1200" dirty="0"/>
              <a:t>-</a:t>
            </a:r>
          </a:p>
        </p:txBody>
      </p:sp>
      <p:sp>
        <p:nvSpPr>
          <p:cNvPr id="20" name="Rectangle 1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7A8DD2E-F73B-7B99-D0C9-AE65938B937E}"/>
              </a:ext>
            </a:extLst>
          </p:cNvPr>
          <p:cNvPicPr>
            <a:picLocks noChangeAspect="1"/>
          </p:cNvPicPr>
          <p:nvPr/>
        </p:nvPicPr>
        <p:blipFill>
          <a:blip r:embed="rId2">
            <a:extLst>
              <a:ext uri="{28A0092B-C50C-407E-A947-70E740481C1C}">
                <a14:useLocalDpi xmlns:a14="http://schemas.microsoft.com/office/drawing/2010/main" val="0"/>
              </a:ext>
            </a:extLst>
          </a:blip>
          <a:srcRect t="15362" r="1" b="548"/>
          <a:stretch>
            <a:fillRect/>
          </a:stretch>
        </p:blipFill>
        <p:spPr>
          <a:xfrm>
            <a:off x="7262949" y="3573973"/>
            <a:ext cx="4439999" cy="2471181"/>
          </a:xfrm>
          <a:prstGeom prst="rect">
            <a:avLst/>
          </a:prstGeom>
        </p:spPr>
      </p:pic>
      <p:sp>
        <p:nvSpPr>
          <p:cNvPr id="22" name="Rectangle 21">
            <a:extLst>
              <a:ext uri="{FF2B5EF4-FFF2-40B4-BE49-F238E27FC236}">
                <a16:creationId xmlns:a16="http://schemas.microsoft.com/office/drawing/2014/main" id="{F261CD1D-C921-4DD4-B856-8EA1D71A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49513" y="6209925"/>
            <a:ext cx="445472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834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D7F9EC8-0E2C-4023-9DD1-73BEF6B80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AB9A0F8-B855-B307-3FA1-E2360282D5D0}"/>
              </a:ext>
            </a:extLst>
          </p:cNvPr>
          <p:cNvSpPr>
            <a:spLocks noGrp="1"/>
          </p:cNvSpPr>
          <p:nvPr>
            <p:ph type="ctrTitle"/>
          </p:nvPr>
        </p:nvSpPr>
        <p:spPr>
          <a:xfrm>
            <a:off x="521208" y="978408"/>
            <a:ext cx="5639261" cy="1040747"/>
          </a:xfrm>
        </p:spPr>
        <p:txBody>
          <a:bodyPr anchor="t">
            <a:normAutofit/>
          </a:bodyPr>
          <a:lstStyle/>
          <a:p>
            <a:pPr>
              <a:lnSpc>
                <a:spcPct val="90000"/>
              </a:lnSpc>
            </a:pPr>
            <a:r>
              <a:rPr lang="en-US" sz="2400" dirty="0"/>
              <a:t>What I Learned and Limitations</a:t>
            </a:r>
          </a:p>
        </p:txBody>
      </p:sp>
      <p:sp>
        <p:nvSpPr>
          <p:cNvPr id="3" name="Subtitle 2">
            <a:extLst>
              <a:ext uri="{FF2B5EF4-FFF2-40B4-BE49-F238E27FC236}">
                <a16:creationId xmlns:a16="http://schemas.microsoft.com/office/drawing/2014/main" id="{DDFA79A8-338D-366D-1CA1-C1EE72AA1CCC}"/>
              </a:ext>
            </a:extLst>
          </p:cNvPr>
          <p:cNvSpPr>
            <a:spLocks noGrp="1"/>
          </p:cNvSpPr>
          <p:nvPr>
            <p:ph type="subTitle" idx="1"/>
          </p:nvPr>
        </p:nvSpPr>
        <p:spPr>
          <a:xfrm>
            <a:off x="521207" y="1635777"/>
            <a:ext cx="6521263" cy="4703924"/>
          </a:xfrm>
        </p:spPr>
        <p:txBody>
          <a:bodyPr anchor="t">
            <a:noAutofit/>
          </a:bodyPr>
          <a:lstStyle/>
          <a:p>
            <a:r>
              <a:rPr lang="en-US" sz="1400" b="1" dirty="0"/>
              <a:t>What I Learned</a:t>
            </a:r>
          </a:p>
          <a:p>
            <a:r>
              <a:rPr lang="en-US" sz="1400" dirty="0"/>
              <a:t>-Learned how CMDs connect to stellar evolution and star cluster age </a:t>
            </a:r>
          </a:p>
          <a:p>
            <a:r>
              <a:rPr lang="en-US" sz="1400" dirty="0"/>
              <a:t>-Worked with public Gaia data to build a research-style project </a:t>
            </a:r>
          </a:p>
          <a:p>
            <a:r>
              <a:rPr lang="en-US" sz="1400" dirty="0"/>
              <a:t>-Used Python, pandas, and matplotlib for data analysis and visualization </a:t>
            </a:r>
          </a:p>
          <a:p>
            <a:r>
              <a:rPr lang="en-US" sz="1400" dirty="0"/>
              <a:t>-Practiced cleaning real astronomical data using parallax and proper motion </a:t>
            </a:r>
          </a:p>
          <a:p>
            <a:r>
              <a:rPr lang="en-US" sz="1400" dirty="0"/>
              <a:t>-Learned how to identify the main sequence and turnoff region </a:t>
            </a:r>
          </a:p>
          <a:p>
            <a:r>
              <a:rPr lang="en-US" sz="1400" b="1" dirty="0"/>
              <a:t>Limitations and Future Improvements</a:t>
            </a:r>
          </a:p>
          <a:p>
            <a:r>
              <a:rPr lang="en-US" sz="1400" dirty="0"/>
              <a:t>-Used Gaia apparent G magnitude instead of fully corrected absolute magnitude </a:t>
            </a:r>
          </a:p>
          <a:p>
            <a:r>
              <a:rPr lang="en-US" sz="1400" dirty="0"/>
              <a:t>-Some foreground/background stars may remain after filtering </a:t>
            </a:r>
          </a:p>
          <a:p>
            <a:r>
              <a:rPr lang="en-US" sz="1400" dirty="0"/>
              <a:t>-Turnoff region was estimated visually, so the age estimate is approximate </a:t>
            </a:r>
          </a:p>
          <a:p>
            <a:r>
              <a:rPr lang="en-US" sz="1400" dirty="0"/>
              <a:t>-A stronger version would use stricter membership filtering </a:t>
            </a:r>
          </a:p>
          <a:p>
            <a:r>
              <a:rPr lang="en-US" sz="1400" dirty="0"/>
              <a:t>-Future work could compare the CMD to theoretical isochrones for a more accurate age estimate</a:t>
            </a:r>
          </a:p>
        </p:txBody>
      </p:sp>
      <p:sp>
        <p:nvSpPr>
          <p:cNvPr id="12" name="Rectangle 11">
            <a:extLst>
              <a:ext uri="{FF2B5EF4-FFF2-40B4-BE49-F238E27FC236}">
                <a16:creationId xmlns:a16="http://schemas.microsoft.com/office/drawing/2014/main" id="{925CC04F-787A-49FA-9065-69EDF439F6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6A4996-0A0F-A9D4-EFD2-2CD5DC902471}"/>
              </a:ext>
            </a:extLst>
          </p:cNvPr>
          <p:cNvPicPr>
            <a:picLocks noChangeAspect="1"/>
          </p:cNvPicPr>
          <p:nvPr/>
        </p:nvPicPr>
        <p:blipFill>
          <a:blip r:embed="rId2"/>
          <a:srcRect l="10417" t="31149" r="18357" b="9780"/>
          <a:stretch>
            <a:fillRect/>
          </a:stretch>
        </p:blipFill>
        <p:spPr>
          <a:xfrm>
            <a:off x="7636116" y="3987739"/>
            <a:ext cx="3436389" cy="2807208"/>
          </a:xfrm>
          <a:prstGeom prst="rect">
            <a:avLst/>
          </a:prstGeom>
        </p:spPr>
      </p:pic>
      <p:pic>
        <p:nvPicPr>
          <p:cNvPr id="4" name="Picture 3">
            <a:extLst>
              <a:ext uri="{FF2B5EF4-FFF2-40B4-BE49-F238E27FC236}">
                <a16:creationId xmlns:a16="http://schemas.microsoft.com/office/drawing/2014/main" id="{20518ABC-6F28-BBA7-6F56-11C0B2D36776}"/>
              </a:ext>
            </a:extLst>
          </p:cNvPr>
          <p:cNvPicPr>
            <a:picLocks noChangeAspect="1"/>
          </p:cNvPicPr>
          <p:nvPr/>
        </p:nvPicPr>
        <p:blipFill>
          <a:blip r:embed="rId3">
            <a:extLst>
              <a:ext uri="{28A0092B-C50C-407E-A947-70E740481C1C}">
                <a14:useLocalDpi xmlns:a14="http://schemas.microsoft.com/office/drawing/2010/main" val="0"/>
              </a:ext>
            </a:extLst>
          </a:blip>
          <a:srcRect t="15362" r="1" b="548"/>
          <a:stretch>
            <a:fillRect/>
          </a:stretch>
        </p:blipFill>
        <p:spPr>
          <a:xfrm>
            <a:off x="7156654" y="275625"/>
            <a:ext cx="4395315" cy="2446311"/>
          </a:xfrm>
          <a:prstGeom prst="rect">
            <a:avLst/>
          </a:prstGeom>
        </p:spPr>
      </p:pic>
      <p:cxnSp>
        <p:nvCxnSpPr>
          <p:cNvPr id="7" name="Straight Arrow Connector 6">
            <a:extLst>
              <a:ext uri="{FF2B5EF4-FFF2-40B4-BE49-F238E27FC236}">
                <a16:creationId xmlns:a16="http://schemas.microsoft.com/office/drawing/2014/main" id="{5212DEBF-7644-51EE-9059-8603421A7810}"/>
              </a:ext>
            </a:extLst>
          </p:cNvPr>
          <p:cNvCxnSpPr/>
          <p:nvPr/>
        </p:nvCxnSpPr>
        <p:spPr>
          <a:xfrm>
            <a:off x="9354312" y="3090672"/>
            <a:ext cx="0" cy="640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4650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19420-01E5-43E9-0FFF-6F415D351DB9}"/>
              </a:ext>
            </a:extLst>
          </p:cNvPr>
          <p:cNvSpPr>
            <a:spLocks noGrp="1"/>
          </p:cNvSpPr>
          <p:nvPr>
            <p:ph type="ctrTitle"/>
          </p:nvPr>
        </p:nvSpPr>
        <p:spPr>
          <a:xfrm>
            <a:off x="521208" y="978408"/>
            <a:ext cx="5751576" cy="1399032"/>
          </a:xfrm>
        </p:spPr>
        <p:txBody>
          <a:bodyPr/>
          <a:lstStyle/>
          <a:p>
            <a:r>
              <a:rPr lang="en-US" dirty="0"/>
              <a:t>Bibliography</a:t>
            </a:r>
          </a:p>
        </p:txBody>
      </p:sp>
      <p:sp>
        <p:nvSpPr>
          <p:cNvPr id="3" name="Subtitle 2">
            <a:extLst>
              <a:ext uri="{FF2B5EF4-FFF2-40B4-BE49-F238E27FC236}">
                <a16:creationId xmlns:a16="http://schemas.microsoft.com/office/drawing/2014/main" id="{7604DB96-AC4A-20D1-26C6-2100B85D2A3A}"/>
              </a:ext>
            </a:extLst>
          </p:cNvPr>
          <p:cNvSpPr>
            <a:spLocks noGrp="1"/>
          </p:cNvSpPr>
          <p:nvPr>
            <p:ph type="subTitle" idx="1"/>
          </p:nvPr>
        </p:nvSpPr>
        <p:spPr>
          <a:xfrm>
            <a:off x="521208" y="2194560"/>
            <a:ext cx="11149584" cy="3858768"/>
          </a:xfrm>
        </p:spPr>
        <p:txBody>
          <a:bodyPr anchor="t">
            <a:normAutofit fontScale="85000" lnSpcReduction="10000"/>
          </a:bodyPr>
          <a:lstStyle/>
          <a:p>
            <a:r>
              <a:rPr lang="en-US" sz="2400" b="1" dirty="0"/>
              <a:t>Gaia / Data Sources</a:t>
            </a:r>
            <a:br>
              <a:rPr lang="en-US" sz="2400" dirty="0"/>
            </a:br>
            <a:r>
              <a:rPr lang="en-US" sz="2400" dirty="0"/>
              <a:t>European Space Agency. “Gaia Overview.” ESA Science &amp; Exploration. Accessed 26 May 2026.</a:t>
            </a:r>
            <a:br>
              <a:rPr lang="en-US" sz="2400" dirty="0"/>
            </a:br>
            <a:r>
              <a:rPr lang="en-US" sz="2400" dirty="0"/>
              <a:t>European Space Agency. “Gaia Archive.” ESA Gaia Archive. Accessed 26 May 2026.</a:t>
            </a:r>
          </a:p>
          <a:p>
            <a:r>
              <a:rPr lang="en-US" sz="2400" b="1" dirty="0"/>
              <a:t>M67 / Star Cluster Sources</a:t>
            </a:r>
            <a:br>
              <a:rPr lang="en-US" sz="2400" dirty="0"/>
            </a:br>
            <a:r>
              <a:rPr lang="en-US" sz="2400" dirty="0"/>
              <a:t>Carboni, Noel, and Greg Parker. “APOD: 2007 August 9 — Star Cluster Messier 67.” NASA Astronomy Picture of the Day, 9 Aug. 2007.</a:t>
            </a:r>
            <a:br>
              <a:rPr lang="en-US" sz="2400" dirty="0"/>
            </a:br>
            <a:r>
              <a:rPr lang="en-US" sz="2400" dirty="0"/>
              <a:t>“Messier 67.” NASA Science, NASA, 25 Mar. 2025.</a:t>
            </a:r>
            <a:br>
              <a:rPr lang="en-US" sz="2400" dirty="0"/>
            </a:br>
            <a:r>
              <a:rPr lang="en-US" sz="2400" dirty="0"/>
              <a:t>“Age of Star Clusters &amp; Red Giants.” Angles and Acid. Accessed 26 May 2026.</a:t>
            </a:r>
          </a:p>
          <a:p>
            <a:r>
              <a:rPr lang="en-US" sz="2400" b="1" dirty="0"/>
              <a:t>Diagram / Image Sources</a:t>
            </a:r>
            <a:br>
              <a:rPr lang="en-US" sz="2400" dirty="0"/>
            </a:br>
            <a:r>
              <a:rPr lang="en-US" sz="2400" dirty="0"/>
              <a:t>“Intermediate-Mass Stars Become Magnetic White Dwarfs.” ResearchGate. Accessed 20 May 2026.</a:t>
            </a:r>
          </a:p>
          <a:p>
            <a:endParaRPr lang="en-US" sz="2400" dirty="0"/>
          </a:p>
          <a:p>
            <a:endParaRPr lang="en-US" sz="2400" dirty="0"/>
          </a:p>
          <a:p>
            <a:endParaRPr lang="en-US" dirty="0"/>
          </a:p>
        </p:txBody>
      </p:sp>
    </p:spTree>
    <p:extLst>
      <p:ext uri="{BB962C8B-B14F-4D97-AF65-F5344CB8AC3E}">
        <p14:creationId xmlns:p14="http://schemas.microsoft.com/office/powerpoint/2010/main" val="56455761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B688D7EFA86C4D84EF04A9A791412E" ma:contentTypeVersion="11" ma:contentTypeDescription="Create a new document." ma:contentTypeScope="" ma:versionID="3c1c865e862dba584bc27b43b8aa0c47">
  <xsd:schema xmlns:xsd="http://www.w3.org/2001/XMLSchema" xmlns:xs="http://www.w3.org/2001/XMLSchema" xmlns:p="http://schemas.microsoft.com/office/2006/metadata/properties" xmlns:ns3="ea61e452-e9c1-4717-a2c5-027dafdc79b3" targetNamespace="http://schemas.microsoft.com/office/2006/metadata/properties" ma:root="true" ma:fieldsID="57ed91d6ba398580d83c92a93b23debe" ns3:_="">
    <xsd:import namespace="ea61e452-e9c1-4717-a2c5-027dafdc79b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1e452-e9c1-4717-a2c5-027dafdc79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a61e452-e9c1-4717-a2c5-027dafdc79b3" xsi:nil="true"/>
  </documentManagement>
</p:properties>
</file>

<file path=customXml/itemProps1.xml><?xml version="1.0" encoding="utf-8"?>
<ds:datastoreItem xmlns:ds="http://schemas.openxmlformats.org/officeDocument/2006/customXml" ds:itemID="{1D59128A-B449-4836-AA74-197763C37F1F}">
  <ds:schemaRefs>
    <ds:schemaRef ds:uri="http://schemas.microsoft.com/sharepoint/v3/contenttype/forms"/>
  </ds:schemaRefs>
</ds:datastoreItem>
</file>

<file path=customXml/itemProps2.xml><?xml version="1.0" encoding="utf-8"?>
<ds:datastoreItem xmlns:ds="http://schemas.openxmlformats.org/officeDocument/2006/customXml" ds:itemID="{47919CCE-AB57-4DB5-810B-05C3FD66F1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61e452-e9c1-4717-a2c5-027dafdc79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48DC32B-46E7-4814-9F0F-8B02F95C1AA0}">
  <ds:schemaRefs>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purl.org/dc/terms/"/>
    <ds:schemaRef ds:uri="http://schemas.microsoft.com/office/infopath/2007/PartnerControls"/>
    <ds:schemaRef ds:uri="ea61e452-e9c1-4717-a2c5-027dafdc79b3"/>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1475</TotalTime>
  <Words>1450</Words>
  <Application>Microsoft Office PowerPoint</Application>
  <PresentationFormat>Widescreen</PresentationFormat>
  <Paragraphs>72</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Bierstadt</vt:lpstr>
      <vt:lpstr>Cambria Math</vt:lpstr>
      <vt:lpstr>GestaltVTI</vt:lpstr>
      <vt:lpstr>Estimating the age of M67 using Gaia data and a Color-Magnitude Diagram</vt:lpstr>
      <vt:lpstr>Initial Research Question: Can the age of the star cluster M67 be estimated using a color-magnitude diagram (CMD) by identifying the main sequence turnoff?</vt:lpstr>
      <vt:lpstr>What is a Star Cluster, and Why Are CMDs Useful?</vt:lpstr>
      <vt:lpstr>How to Read a CMD</vt:lpstr>
      <vt:lpstr>Gaia telescope and M67 star cluster</vt:lpstr>
      <vt:lpstr>Extracting and Filtering Gaia Data</vt:lpstr>
      <vt:lpstr>Identifying the Main Sequence Turnoff</vt:lpstr>
      <vt:lpstr>Final Age Estimate of M67</vt:lpstr>
      <vt:lpstr>What I Learned and Limitations</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Johnson</dc:creator>
  <cp:lastModifiedBy>Adam Johnson</cp:lastModifiedBy>
  <cp:revision>7</cp:revision>
  <dcterms:created xsi:type="dcterms:W3CDTF">2026-05-20T17:23:37Z</dcterms:created>
  <dcterms:modified xsi:type="dcterms:W3CDTF">2026-05-27T16:10:46Z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0x01010017B688D7EFA86C4D84EF04A9A791412E</vt:lpwstr>
  </property>
</Properties>
</file>